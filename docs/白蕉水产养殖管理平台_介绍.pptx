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3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9CC2AE"/>
                </a:solidFill>
                <a:latin typeface="微软雅黑"/>
                <a:ea typeface="微软雅黑"/>
              </a:rPr>
              <a:t>软件实训课程项目汇报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白蕉水产养殖管理平台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C7DCD2"/>
                </a:solidFill>
                <a:latin typeface="微软雅黑"/>
                <a:ea typeface="微软雅黑"/>
              </a:rPr>
              <a:t>环境采集 → 智能建议 → 人工确认 → 任务下发 → 回执核查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9CC2AE"/>
                </a:solidFill>
                <a:latin typeface="微软雅黑"/>
                <a:ea typeface="微软雅黑"/>
              </a:rPr>
              <a:t>面向珠海斗门白蕉海鲈养殖 · 一条可核查、可演示的投喂业务闭环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B9D1C6"/>
                </a:solidFill>
                <a:latin typeface="微软雅黑"/>
                <a:ea typeface="微软雅黑"/>
              </a:rPr>
              <a:t>智能渔业 · 3 组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B9D1C6"/>
                </a:solidFill>
                <a:latin typeface="微软雅黑"/>
                <a:ea typeface="微软雅黑"/>
              </a:rPr>
              <a:t>组员：李世泓、叶翔、李森、陈富基、陈海瀚、王延旭、杨耀浚、刘越、黄东旭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B9D1C6"/>
                </a:solidFill>
                <a:latin typeface="微软雅黑"/>
                <a:ea typeface="微软雅黑"/>
              </a:rPr>
              <a:t>指导教师：黄杰        2026 年 9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FA893"/>
                </a:solidFill>
                <a:latin typeface="微软雅黑"/>
                <a:ea typeface="微软雅黑"/>
              </a:rPr>
              <a:t>演示数据与建议仅用于课程联调验证，不作为实际养殖依据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01 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这是个什么系统？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给塘主和养殖员的「投喂决策辅助 + 执行留痕」工具，不是一个泛泛的数据大屏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97480" cy="210312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32765C"/>
                </a:solidFill>
                <a:latin typeface="微软雅黑"/>
                <a:ea typeface="微软雅黑"/>
              </a:rPr>
              <a:t>解决什么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56032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投喂靠经验、无记录、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出问题查不清当时依据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28800"/>
            <a:ext cx="2697480" cy="210312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32765C"/>
                </a:solidFill>
                <a:latin typeface="微软雅黑"/>
                <a:ea typeface="微软雅黑"/>
              </a:rPr>
              <a:t>给谁用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56032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塘主 / 管理员 / 运营者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三级角色 + 塘口授权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97480" cy="210312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32765C"/>
                </a:solidFill>
                <a:latin typeface="微软雅黑"/>
                <a:ea typeface="微软雅黑"/>
              </a:rPr>
              <a:t>怎么帮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56032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系统给建议 → 人工拍板 →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执行留痕 → 异常有人管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828800"/>
            <a:ext cx="2697480" cy="210312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20116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1">
                <a:solidFill>
                  <a:srgbClr val="32765C"/>
                </a:solidFill>
                <a:latin typeface="微软雅黑"/>
                <a:ea typeface="微软雅黑"/>
              </a:rPr>
              <a:t>和别的不一样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256032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不堆功能，重点在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每个环节「说得清、留得住」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四个「不」——把边界说在前面：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不诊断疾病：不提供脂肪肝判定算法、投喂配方或水质阈值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不替代人：最终是否投喂、投多少由养殖员确认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不伪造数据：估算标估算、仿真标仿真、未知就显示未知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不夸效果：减少浪费、提高收益需要另定基线另行验证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02 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一条完整的投喂业务闭环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每个环节都有明确的状态与留痕，异常分支同样可演示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103120" cy="1371600"/>
          </a:xfrm>
          <a:prstGeom prst="rect">
            <a:avLst/>
          </a:prstGeom>
          <a:solidFill>
            <a:srgbClr val="3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环境采集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1460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水温/溶氧/pH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来源与时效校验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920240"/>
            <a:ext cx="2103120" cy="137160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084831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校验与建议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251460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数据有效才计算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带依据与规则版本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920240"/>
            <a:ext cx="2103120" cy="1371600"/>
          </a:xfrm>
          <a:prstGeom prst="rect">
            <a:avLst/>
          </a:prstGeom>
          <a:solidFill>
            <a:srgbClr val="3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2084831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人工确认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51460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确认 / 调整 / 取消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改量必须填原因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920240"/>
            <a:ext cx="2103120" cy="137160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084831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任务下发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51460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唯一任务号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设备占用与去重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377440"/>
            <a:ext cx="228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920240"/>
            <a:ext cx="2103120" cy="1371600"/>
          </a:xfrm>
          <a:prstGeom prst="rect">
            <a:avLst/>
          </a:prstGeom>
          <a:solidFill>
            <a:srgbClr val="3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084831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回执与核查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51460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完成/失败/未知</a:t>
            </a:r>
          </a:p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100" b="0">
                <a:solidFill>
                  <a:srgbClr val="D8E8E0"/>
                </a:solidFill>
                <a:latin typeface="微软雅黑"/>
                <a:ea typeface="微软雅黑"/>
              </a:rPr>
              <a:t>未知须人工核查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32765C"/>
                </a:solidFill>
                <a:latin typeface="微软雅黑"/>
                <a:ea typeface="微软雅黑"/>
              </a:rPr>
              <a:t>异常分支同样有既定行为，不是「出错就完事」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2303C"/>
                </a:solidFill>
                <a:latin typeface="微软雅黑"/>
                <a:ea typeface="微软雅黑"/>
              </a:rPr>
              <a:t>数据失效 / 过期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16052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7C8C"/>
                </a:solidFill>
                <a:latin typeface="微软雅黑"/>
                <a:ea typeface="微软雅黑"/>
              </a:rPr>
              <a:t>不产生可执行建议，列出需补录项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63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2303C"/>
                </a:solidFill>
                <a:latin typeface="微软雅黑"/>
                <a:ea typeface="微软雅黑"/>
              </a:rPr>
              <a:t>设备离线 / 卡料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6634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7C8C"/>
                </a:solidFill>
                <a:latin typeface="微软雅黑"/>
                <a:ea typeface="微软雅黑"/>
              </a:rPr>
              <a:t>暂停下发，记录原因，不静默改判为人工完成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663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2303C"/>
                </a:solidFill>
                <a:latin typeface="微软雅黑"/>
                <a:ea typeface="微软雅黑"/>
              </a:rPr>
              <a:t>回执超时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516636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7C8C"/>
                </a:solidFill>
                <a:latin typeface="微软雅黑"/>
                <a:ea typeface="微软雅黑"/>
              </a:rPr>
              <a:t>标记「结果未知」，保留设备占用，不自动重发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69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22303C"/>
                </a:solidFill>
                <a:latin typeface="微软雅黑"/>
                <a:ea typeface="微软雅黑"/>
              </a:rPr>
              <a:t>重复点击 / 重复回执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66928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>
                <a:solidFill>
                  <a:srgbClr val="6B7C8C"/>
                </a:solidFill>
                <a:latin typeface="微软雅黑"/>
                <a:ea typeface="微软雅黑"/>
              </a:rPr>
              <a:t>按请求号与任务号去重，不重复累计用料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03  DATA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三个量分列：谁建议的、谁改的、实际投了多少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这是需求书反复强调的一条，也是很多「看起来能用」的系统最容易含糊的地方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11880" cy="228600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1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32765C"/>
                </a:solidFill>
                <a:latin typeface="微软雅黑"/>
                <a:ea typeface="微软雅黑"/>
              </a:rPr>
              <a:t>建议量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786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系统生成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44368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按全塘口径计算：鱼重 × 尾数 × 比例，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温度与摄食系数参与，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保存输入快照与规则版本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611880" cy="228600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84831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32765C"/>
                </a:solidFill>
                <a:latin typeface="微软雅黑"/>
                <a:ea typeface="微软雅黑"/>
              </a:rPr>
              <a:t>确认量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786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人工拍板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44368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养殖员可现场调整数量，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但必须填写修改原因，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原建议与修改一并留痕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611880" cy="228600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84831"/>
            <a:ext cx="3108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000" b="1">
                <a:solidFill>
                  <a:srgbClr val="32765C"/>
                </a:solidFill>
                <a:latin typeface="微软雅黑"/>
                <a:ea typeface="微软雅黑"/>
              </a:rPr>
              <a:t>实际量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7860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设备回执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44368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设备实测或人工填报，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必须标明来源；无计量能力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时显示「未获取」，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22303C"/>
                </a:solidFill>
                <a:latin typeface="微软雅黑"/>
                <a:ea typeface="微软雅黑"/>
              </a:rPr>
              <a:t>不用确认量补齐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为什么较真这件事：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把估算当实测 → 汇总出来的用料、饲料系数全是假的，没法用来做成本核算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把「指令已发」当「已经投了」 → 设备离线时会产生重复投喂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22303C"/>
                </a:solidFill>
                <a:latin typeface="微软雅黑"/>
                <a:ea typeface="微软雅黑"/>
              </a:rPr>
              <a:t>· 没有来源标识 → 分不清是人填的还是机器测的，事后无法审计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04  LIVE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养殖总览（真实运行界面）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两个塘的环境、投喂、告警、终端状态一屏可见；右侧直接列出待办异常并可跳转核查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166" y="1600200"/>
            <a:ext cx="6897188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05  POND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单塘看板：从环境到投喂的一站式操作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仪表盘显示量程位置（非安全评级）；趋势图按实际采样时间绘制，超过 8 小时断线不连线</a:t>
            </a:r>
          </a:p>
        </p:txBody>
      </p:sp>
      <p:pic>
        <p:nvPicPr>
          <p:cNvPr id="6" name="Picture 5" descr="pond_e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497" y="1645920"/>
            <a:ext cx="4506685" cy="2103120"/>
          </a:xfrm>
          <a:prstGeom prst="rect">
            <a:avLst/>
          </a:prstGeom>
        </p:spPr>
      </p:pic>
      <p:pic>
        <p:nvPicPr>
          <p:cNvPr id="7" name="Picture 6" descr="pond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86" y="1645920"/>
            <a:ext cx="5369668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88620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环境监测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水温 / 溶氧 / pH / ORP 四项，各自显示单位、采集时间、来源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数据过期时明确标注「已过期」，不假装是当前值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未接入的指标显示「未接入」，不填示例值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今日运行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今日已知实际量（按设备回执累计，不是按指令量）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有多少个任务的实测量待核实，单独列出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886200"/>
            <a:ext cx="53949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投喂建议与确认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两条路径：大模型建议 / 规则建议（不调用大模型）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建议卡片显示建议量、规则版本与完整依据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大模型读取的是环境摘要，失败时明确提示，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  不会自动用规则结果冒充大模型结果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水温 / 溶氧趋势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按真实采样时间定位，采样间隔异常会断线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06  EXECUTION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投喂任务记录：三个量在两列里同时可见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每行都能看到建议量 / 确认量 / 实际量，以及实际量的来源标记</a:t>
            </a:r>
          </a:p>
        </p:txBody>
      </p:sp>
      <p:pic>
        <p:nvPicPr>
          <p:cNvPr id="6" name="Picture 5" descr="pond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45920"/>
            <a:ext cx="658368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2628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几个细节：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「实际量」列标着 measured / simulated —— 仿真终端产生的量不会冒充设备实测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失败任务仍然显示「实际量 未获取」，保留失败前已知投出的量，不用确认量补齐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任务状态由状态机推进：待下发 → 已下发待回执 → 执行中 → 已完成 / 失败 / 结果未知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表格每 5 秒自动刷新，右上角提示「N 个任务占用设备」，卡住的任务一眼可见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07  EXCEPTION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设备失联时：不盲目重发，先转待核查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页面右上角「终端仿真」开关：开 → 正常闭环；关 → 复现设备失联异常流程</a:t>
            </a:r>
          </a:p>
        </p:txBody>
      </p:sp>
      <p:pic>
        <p:nvPicPr>
          <p:cNvPr id="6" name="Picture 5" descr="review_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6583680" cy="3657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645920"/>
            <a:ext cx="3337560" cy="365760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755648"/>
            <a:ext cx="30175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任务 TK-0054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状态：结果未知（待核查）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建议 / 确认 / 实际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379.469 / 379.469 / 未获取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设备占用：占用中　回执：无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系统做了什么：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· 超时后自动转入待核查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· 保留设备占用，拒绝新任务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· 须人工核查并逐项确认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  （终端无任务 / 旧指令不再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22303C"/>
                </a:solidFill>
                <a:latin typeface="微软雅黑"/>
                <a:ea typeface="微软雅黑"/>
              </a:rPr>
              <a:t>  执行 / 设备可用）才解除占用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C55A11"/>
                </a:solidFill>
                <a:latin typeface="微软雅黑"/>
                <a:ea typeface="微软雅黑"/>
              </a:rPr>
              <a:t>为什么这么设计：设备是否真的停了、投了多少，系统无法自己证明。盲目重发会导致重复投料——这是比「少喂一次」严重得多的事故。所以宁可卡住等人核实，也不自动恢复。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08  AI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可解释的 AI：真训练、带指标、讲边界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生长 / 投喂量 / 水质三组模型，输出都带版本、样本数与误差指标</a:t>
            </a:r>
          </a:p>
        </p:txBody>
      </p:sp>
      <p:pic>
        <p:nvPicPr>
          <p:cNvPr id="6" name="Picture 5" descr="pond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84" y="1645920"/>
            <a:ext cx="6935792" cy="40233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645920"/>
            <a:ext cx="3337560" cy="402336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10512"/>
            <a:ext cx="29260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实际运行结果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生长预测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当前估计 780.8 g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生长速度 2.641 g/天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距目标 8 天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模型 R² = 0.9965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投喂量预测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日投喂量 ~ 生物量 + 日均温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如实报出较低 R²，不粉饰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水质预测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22303C"/>
                </a:solidFill>
                <a:latin typeface="微软雅黑"/>
                <a:ea typeface="微软雅黑"/>
              </a:rPr>
              <a:t>· 72 小时趋势外推，仅 ≤24h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C55A11"/>
                </a:solidFill>
                <a:latin typeface="微软雅黑"/>
                <a:ea typeface="微软雅黑"/>
              </a:rPr>
              <a:t>数据不足时明确拒绝，不返回伪预测——例如某塘称重记录不足两次，饲料系数直接显示「暂不能计算」而不是给个凑出来的数。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09  VISION &amp;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塘口监控与疑似死鱼事件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识别结果先作为「待确认事件」，人工确认前不计入已确认数量</a:t>
            </a:r>
          </a:p>
        </p:txBody>
      </p:sp>
      <p:pic>
        <p:nvPicPr>
          <p:cNvPr id="6" name="Picture 5" descr="pond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95881"/>
            <a:ext cx="5394960" cy="1843278"/>
          </a:xfrm>
          <a:prstGeom prst="rect">
            <a:avLst/>
          </a:prstGeom>
        </p:spPr>
      </p:pic>
      <p:pic>
        <p:nvPicPr>
          <p:cNvPr id="7" name="Picture 6" descr="pond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645" y="1645920"/>
            <a:ext cx="4728949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57200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塘口监控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相机离线时明确显示「画面不可用」，不用旧截图冒充正常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支持浏览器摄像头拍照 / 图片上传 / OCR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OCR 依赖本机安装 tesseract，未装时明确提示，不做假识别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4572000"/>
            <a:ext cx="53949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疑似死鱼事件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编号 / 状态 / 来源 / 置信度 / 位置 / 发现时间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状态流转：待确认 → 处理中 → 已处理 / 误报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误报与已处理为终态，不可互相改写而丢失分类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· 确认死鱼事件本身不等于确定病因，页面不生成诊断结论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10  COMPARISON &amp; 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多塘比较与养殖交流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同一时间范围对照水质、告警、用药与饲料；数据条件不同的塘不直接判定优劣</a:t>
            </a:r>
          </a:p>
        </p:txBody>
      </p:sp>
      <p:pic>
        <p:nvPicPr>
          <p:cNvPr id="6" name="Picture 5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645920"/>
            <a:ext cx="5266944" cy="3840480"/>
          </a:xfrm>
          <a:prstGeom prst="rect">
            <a:avLst/>
          </a:prstGeom>
        </p:spPr>
      </p:pic>
      <p:pic>
        <p:nvPicPr>
          <p:cNvPr id="7" name="Picture 6" descr="commu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765935"/>
            <a:ext cx="4937760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23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 b="0">
                <a:solidFill>
                  <a:srgbClr val="22303C"/>
                </a:solidFill>
                <a:latin typeface="微软雅黑"/>
                <a:ea typeface="微软雅黑"/>
              </a:rPr>
              <a:t>饲料系数 FCR = 区间内饲料消耗 / 同期鱼体增重，实测 1.29，落在真实鲈鱼范围（约 1.2~1.8）；分子分母覆盖相同时间区间，区间之后的投喂不计入。A02 因称重数据不足，明确标「不参与排名」而不凑名次。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11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质量有据可查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所有数字来自实际运行与自动化测试，不是估计值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9280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32765C"/>
                </a:solidFill>
                <a:latin typeface="微软雅黑"/>
                <a:ea typeface="微软雅黑"/>
              </a:rPr>
              <a:t>28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1109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验收场景自动化通过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4767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含越权、乱序回执、并发、模型、导入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32765C"/>
                </a:solidFill>
                <a:latin typeface="微软雅黑"/>
                <a:ea typeface="微软雅黑"/>
              </a:rPr>
              <a:t>9 /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0720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投喂安全回归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43784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停止链路、重启去重、实际用料、核查约束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85032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32765C"/>
                </a:solidFill>
                <a:latin typeface="微软雅黑"/>
                <a:ea typeface="微软雅黑"/>
              </a:rPr>
              <a:t>9 /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70332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大模型适配器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39896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缺密钥、超时、限流、异常输出、并发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71416"/>
            <a:ext cx="11064240" cy="77724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81144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32765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5994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数据库模式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636008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SQLite 与 MySQL 各连跑 3 次全通过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67528"/>
            <a:ext cx="11064240" cy="77724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477256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200" b="1">
                <a:solidFill>
                  <a:srgbClr val="32765C"/>
                </a:solidFill>
                <a:latin typeface="微软雅黑"/>
                <a:ea typeface="微软雅黑"/>
              </a:rPr>
              <a:t>605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495544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代码仓库体积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532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87 个文件，无产物与密钥入库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验收脚本默认跑在独立临时库上，不会弄乱演示数据；换台电脑只需 Python，无需安装数据库即可运行。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1">
                <a:solidFill>
                  <a:srgbClr val="9CC2AE"/>
                </a:solidFill>
                <a:latin typeface="微软雅黑"/>
                <a:ea typeface="微软雅黑"/>
              </a:rPr>
              <a:t>12  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诚实的边界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B7C8C"/>
                </a:solidFill>
                <a:latin typeface="微软雅黑"/>
                <a:ea typeface="微软雅黑"/>
              </a:rPr>
              <a:t>这些不是遗漏，是主动声明的范围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真实硬件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2024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未接入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传感器 / 相机 / 投料机用仿真终端验证同一套流程，需求书 2.3 允许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15768"/>
            <a:ext cx="11064240" cy="82296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5292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深度学习视觉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52928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未实现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852928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当前是 OpenCV 启发式算法，反光水草会误报，结果需人工确认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48456"/>
            <a:ext cx="11064240" cy="82296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85616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识别准确率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7856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未评估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785616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没有标注数据集，无法给出准确率——不编一个数字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81144"/>
            <a:ext cx="11064240" cy="82296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18304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微信小程序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718304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未真机运行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718304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代码完整、接口已用脚本预检通过，渲染与触控需人工确认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13832"/>
            <a:ext cx="11064240" cy="822960"/>
          </a:xfrm>
          <a:prstGeom prst="rect">
            <a:avLst/>
          </a:prstGeom>
          <a:solidFill>
            <a:srgbClr val="E8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22303C"/>
                </a:solidFill>
                <a:latin typeface="微软雅黑"/>
                <a:ea typeface="微软雅黑"/>
              </a:rPr>
              <a:t>身份认证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650992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微软雅黑"/>
                <a:ea typeface="微软雅黑"/>
              </a:rPr>
              <a:t>演示级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650992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6B7C8C"/>
                </a:solidFill>
                <a:latin typeface="微软雅黑"/>
                <a:ea typeface="微软雅黑"/>
              </a:rPr>
              <a:t>用请求头 X-User 传身份，未做密码与会话体系，不可用于公开部署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6B7C8C"/>
                </a:solidFill>
                <a:latin typeface="微软雅黑"/>
                <a:ea typeface="微软雅黑"/>
              </a:rPr>
              <a:t>答辩时被问到「这个做了吗」，如实回答比含糊带过稳妥。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谢谢各位老师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C7DCD2"/>
                </a:solidFill>
                <a:latin typeface="微软雅黑"/>
                <a:ea typeface="微软雅黑"/>
              </a:rPr>
              <a:t>恳请批评指正 · 欢迎现场演示与提问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657600"/>
            <a:ext cx="2743200" cy="45720"/>
          </a:xfrm>
          <a:prstGeom prst="rect">
            <a:avLst/>
          </a:prstGeom>
          <a:solidFill>
            <a:srgbClr val="327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B9D1C6"/>
                </a:solidFill>
                <a:latin typeface="微软雅黑"/>
                <a:ea typeface="微软雅黑"/>
              </a:rPr>
              <a:t>现场演示：双击 start.bat   →   http://127.0.0.1:5000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B9D1C6"/>
                </a:solidFill>
                <a:latin typeface="微软雅黑"/>
                <a:ea typeface="微软雅黑"/>
              </a:rPr>
              <a:t>自动化验收：python tests/test_acceptance.py（隔离模式，不影响演示数据）</a:t>
            </a:r>
          </a:p>
          <a:p>
            <a:pPr algn="l">
              <a:lnSpc>
                <a:spcPct val="160000"/>
              </a:lnSpc>
              <a:spcAft>
                <a:spcPts val="600"/>
              </a:spcAft>
            </a:pPr>
            <a:r>
              <a:rPr sz="1400" b="0">
                <a:solidFill>
                  <a:srgbClr val="B9D1C6"/>
                </a:solidFill>
                <a:latin typeface="微软雅黑"/>
                <a:ea typeface="微软雅黑"/>
              </a:rPr>
              <a:t>源代码仓库：https://github.com/Baga-Sekou/baijiao-aquaculture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>
                <a:solidFill>
                  <a:srgbClr val="7FA893"/>
                </a:solidFill>
                <a:latin typeface="微软雅黑"/>
                <a:ea typeface="微软雅黑"/>
              </a:rPr>
              <a:t>演示数据与建议仅用于课程联调验证，不作为实际养殖依据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